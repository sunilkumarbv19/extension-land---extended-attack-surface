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3" r:id="rId5"/>
    <p:sldId id="271" r:id="rId6"/>
    <p:sldId id="260" r:id="rId7"/>
    <p:sldId id="264" r:id="rId8"/>
    <p:sldId id="272" r:id="rId9"/>
    <p:sldId id="275" r:id="rId10"/>
    <p:sldId id="266" r:id="rId11"/>
    <p:sldId id="265" r:id="rId12"/>
    <p:sldId id="273" r:id="rId13"/>
    <p:sldId id="279" r:id="rId14"/>
    <p:sldId id="270" r:id="rId15"/>
    <p:sldId id="267" r:id="rId16"/>
    <p:sldId id="276" r:id="rId17"/>
    <p:sldId id="268" r:id="rId18"/>
    <p:sldId id="277" r:id="rId19"/>
    <p:sldId id="274" r:id="rId20"/>
    <p:sldId id="261" r:id="rId21"/>
    <p:sldId id="281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/>
    <p:restoredTop sz="91889" autoAdjust="0"/>
  </p:normalViewPr>
  <p:slideViewPr>
    <p:cSldViewPr snapToGrid="0">
      <p:cViewPr>
        <p:scale>
          <a:sx n="85" d="100"/>
          <a:sy n="85" d="100"/>
        </p:scale>
        <p:origin x="-78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B7E04-F9A4-3449-A24D-FE20BDA4159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DB87-C1F6-3147-9222-BF526D754F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070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Think of </a:t>
            </a:r>
            <a:r>
              <a:rPr lang="en-US" i="1" dirty="0" err="1" smtClean="0"/>
              <a:t>manifest.json</a:t>
            </a:r>
            <a:r>
              <a:rPr lang="en-US" i="1" dirty="0" smtClean="0"/>
              <a:t> as the </a:t>
            </a:r>
            <a:r>
              <a:rPr lang="en-US" b="1" i="1" dirty="0" smtClean="0"/>
              <a:t>instruction manual</a:t>
            </a:r>
            <a:r>
              <a:rPr lang="en-US" i="1" dirty="0" smtClean="0"/>
              <a:t> of the Chrome extension.</a:t>
            </a:r>
          </a:p>
          <a:p>
            <a:endParaRPr lang="en-IN" i="1" dirty="0" smtClean="0"/>
          </a:p>
          <a:p>
            <a:r>
              <a:rPr lang="en-IN" i="1" dirty="0" smtClean="0"/>
              <a:t>Pop up page:</a:t>
            </a:r>
            <a:r>
              <a:rPr lang="en-IN" i="1" baseline="0" dirty="0" smtClean="0"/>
              <a:t> </a:t>
            </a:r>
            <a:r>
              <a:rPr lang="en-US" i="1" baseline="0" dirty="0" smtClean="0"/>
              <a:t>Think of it as the user interface of the extension.</a:t>
            </a:r>
          </a:p>
          <a:p>
            <a:endParaRPr lang="en-IN" i="1" baseline="0" dirty="0" smtClean="0"/>
          </a:p>
          <a:p>
            <a:r>
              <a:rPr lang="en-US" dirty="0" smtClean="0"/>
              <a:t>Icons and Resources: These are the visual and supporting files used by the extension</a:t>
            </a:r>
          </a:p>
          <a:p>
            <a:endParaRPr lang="en-IN" dirty="0" smtClean="0"/>
          </a:p>
          <a:p>
            <a:r>
              <a:rPr lang="en-IN" dirty="0" smtClean="0"/>
              <a:t>Option</a:t>
            </a:r>
            <a:r>
              <a:rPr lang="en-IN" baseline="0" dirty="0" smtClean="0"/>
              <a:t> pages: </a:t>
            </a:r>
            <a:r>
              <a:rPr lang="en-US" baseline="0" dirty="0" smtClean="0"/>
              <a:t>Think of it as the Settings page of the extension.</a:t>
            </a:r>
          </a:p>
          <a:p>
            <a:endParaRPr lang="en-IN" baseline="0" dirty="0" smtClean="0"/>
          </a:p>
          <a:p>
            <a:r>
              <a:rPr lang="en-IN" baseline="0" dirty="0" smtClean="0"/>
              <a:t>Web Resources: </a:t>
            </a:r>
            <a:r>
              <a:rPr lang="en-US" baseline="0" dirty="0" smtClean="0"/>
              <a:t>Think of them as resources that the extension makes available to specific web pages.</a:t>
            </a:r>
          </a:p>
          <a:p>
            <a:endParaRPr lang="en-IN" baseline="0" dirty="0" smtClean="0"/>
          </a:p>
          <a:p>
            <a:r>
              <a:rPr lang="en-US" dirty="0" smtClean="0"/>
              <a:t>Manifest → Popup → Resources → Options → Web Access</a:t>
            </a:r>
            <a:br>
              <a:rPr lang="en-US" dirty="0" smtClean="0"/>
            </a:br>
            <a:r>
              <a:rPr lang="en-US" dirty="0" smtClean="0"/>
              <a:t>“Manifest controls the extension, Popup interacts with the user, Resources support it, Options configure it, and Web-accessible resources allow controlled access from web pages.”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7DB87-C1F6-3147-9222-BF526D754F6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6575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 Page. It contains the basic logic of the extension. The main feature of a background page is that it runs and does some work in the background when the browser is started and keeps it in memory as a background process during a session.</a:t>
            </a:r>
          </a:p>
          <a:p>
            <a:endParaRPr lang="en-I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 Scripts. These are JavaScript files or code that run not in a separate background process but in the context of the web page. Content scripts use the Chrome API in a limited way. They are isolated and cannot use functions and variables which are declared, for example, on the background page.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7DB87-C1F6-3147-9222-BF526D754F6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www.aikido.dev</a:t>
            </a:r>
            <a:r>
              <a:rPr lang="en-US" dirty="0"/>
              <a:t>/blog/browser-extension-security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github.blog</a:t>
            </a:r>
            <a:r>
              <a:rPr lang="en-US" dirty="0"/>
              <a:t>/security/vulnerability-research/attacking-browser-extensions/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7DB87-C1F6-3147-9222-BF526D754F6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38270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spin.ai</a:t>
            </a:r>
            <a:r>
              <a:rPr lang="en-US" dirty="0"/>
              <a:t>/blog/beyond-add-ons-elevating-browser-governance-against-malicious-and-risky-extensions/#types-of-harmful-browser-extensions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attack.mitre.org</a:t>
            </a:r>
            <a:r>
              <a:rPr lang="en-US" dirty="0"/>
              <a:t>/techniques/T1176/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7DB87-C1F6-3147-9222-BF526D754F6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31389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96800C-290D-374F-8F87-D3966F567C4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51846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C7A717-A0DC-938F-3D60-C28F87E6A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47548DC-B85D-5BDD-4E7C-C29EDBC92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47663F-658B-06CB-85BB-67D1F2AB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2C8468-CDEA-CA9A-918A-B90BC2E0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8E53DD9-5EA0-1D05-1AB5-1C3AE047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200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E77B47-E8F1-59D4-D53C-2584E506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C5C919-A890-C2BB-FA5B-ABC67F77E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0C4BAF-90B4-704D-7273-64E07D15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CCAFEC-9B75-AB32-F0CD-DB4CEBD1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6070CD1-D0D3-2442-21D5-4F7AFEAB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487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24565-9EA3-05D5-5377-B26509D9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E9C6E3A-5760-8251-E1C3-6579892AD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ED3BEC-820F-AB15-051C-B84792D0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02A458-D13B-0992-5AEE-7D9DD5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76E549-079B-7497-9FF2-396C8A50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1272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A2D4E3-EDAA-1C50-D8A6-8AB08223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B73045-8809-BDE4-A02F-435C3AC0F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BE50746-ACD0-51CD-DD2E-F310748C8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D27A247-2D54-D6E9-DDB0-E256DAFB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70FC1E-514A-8C76-D3AA-0509F95E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CEB031F-3F46-5C5E-69D5-4062F73C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460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E0B5B0-EE66-EB64-38CC-5A977025F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753E3E2-1A0F-24AE-7A91-D14E2B88E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411CCED-9AC4-30E9-712D-6550F9E84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645D20C-3417-E4AF-A952-F3DC165D8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EBAB73B-E2E3-3F68-E7C0-16F456D1B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E9E208E-1E76-7A41-79FF-71F72FE0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25F6556-EC4B-C286-BC04-807D185A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489A07E-EC39-71C5-041D-3D5480B3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3769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CB6B95-C8AB-0A79-D0B3-59A46DED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7963EE8-6534-23C8-A0F6-508AFFEDC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FE831AE-DC14-B3E2-8448-F247A71B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0457BEC-8A38-3966-9516-409467AD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921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900026E-E5D0-3874-A802-57D64075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D1F7CA8-F39C-427C-59AC-A375AF0A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6BF751E-C81C-FFA1-545A-060D5DBB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0556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CAC8AC-9D89-BE13-F878-E50C85CD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222FBB-6959-C70F-7BAA-E12C568C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277EEF7-41A1-F7DE-1CB7-D3D0223D5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9BDE960-3061-804F-5A1A-2A960F64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7A268B6-6070-9C23-880D-DC3F52EB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0C452EB-4211-B892-D191-0B539F2E4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783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97AEFD-3F51-D600-0236-A5020174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B244B63-5A5F-4F18-EAAF-2B304685C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8716BDA-F765-B66A-CC27-80F61EE56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B8AE199-BD71-6977-26A1-87944676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FDBBA5E-A025-7871-0996-3798A6E1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69FAE9-5CA0-D899-16C5-C9B3EA2E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736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8D1062-259D-82B4-B1F5-D88BB491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54BC6E6-F44C-BAB3-9332-384BF7A4E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9A88F4-2C86-4067-4716-0207EC08B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F74853-FB9E-7B5B-5CB2-F0557B08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01949F-1982-BF96-EF60-7A45168F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3345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473AC56-D048-9EAD-BAD3-4767F48B6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91B562-38AD-8C12-C774-B73786FA0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5E20FD-C9D0-DF6B-BA1B-C06269D2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A2CBC0D-1BD8-3C92-F320-C3E7BF4F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E9EB7F-9CEA-61B5-F751-ABD8153A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09079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5ABC852-758F-8040-10D4-0AB48432D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6EBCDA-6882-9BEF-FD93-CA99AAEB7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A0F676E-BC11-83D8-F933-814E3584B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41E90-E35D-344A-B34D-00FB7AE8999E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C7312D-2EE1-99EB-76EA-51AA795DA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7D553A-5A0A-73BF-D9BA-4C669EB0F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59C1C-7BB5-784B-9BC0-1148DA100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3997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ozilla.org/en-US/kb/permission-request-messages-firefox-extensions" TargetMode="External"/><Relationship Id="rId2" Type="http://schemas.openxmlformats.org/officeDocument/2006/relationships/hyperlink" Target="https://support.google.com/chrome/a/answer/989781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apple.com/documentation/safariservices/managing-safari-web-extension-permissions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yteray.com/cql-hub/malicious-chrome-extension-freevpn-one-detection" TargetMode="External"/><Relationship Id="rId2" Type="http://schemas.openxmlformats.org/officeDocument/2006/relationships/hyperlink" Target="https://www.crowdstrike.com/en-us/platform/exposure-management/browser-extension-assessment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x.koi.security/" TargetMode="External"/><Relationship Id="rId2" Type="http://schemas.openxmlformats.org/officeDocument/2006/relationships/hyperlink" Target="https://extensionsecurity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ileydakota/crx-analyzer" TargetMode="External"/><Relationship Id="rId5" Type="http://schemas.openxmlformats.org/officeDocument/2006/relationships/hyperlink" Target="https://github.com/Tuhinshubhra/ExtAnalysis" TargetMode="External"/><Relationship Id="rId4" Type="http://schemas.openxmlformats.org/officeDocument/2006/relationships/hyperlink" Target="https://app.extensionchecker.org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marektoth.com/blog/dom-based-extension-clickjacking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xmlns="" id="{E91DC736-0EF8-4F87-9146-EBF1D2EE4D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puzzle piece with a cartoon character inside&#10;&#10;AI-generated content may be incorrect.">
            <a:extLst>
              <a:ext uri="{FF2B5EF4-FFF2-40B4-BE49-F238E27FC236}">
                <a16:creationId xmlns:a16="http://schemas.microsoft.com/office/drawing/2014/main" xmlns="" id="{B9CE8A0B-9F03-C03C-F6C9-21932E784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116" r="18700" b="1973"/>
          <a:stretch>
            <a:fillRect/>
          </a:stretch>
        </p:blipFill>
        <p:spPr bwMode="auto">
          <a:xfrm>
            <a:off x="3523488" y="10"/>
            <a:ext cx="8668512" cy="652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Rectangle 1044">
            <a:extLst>
              <a:ext uri="{FF2B5EF4-FFF2-40B4-BE49-F238E27FC236}">
                <a16:creationId xmlns:a16="http://schemas.microsoft.com/office/drawing/2014/main" xmlns="" id="{097CD68E-23E3-4007-8847-CD0944C4F7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6B37E0-3986-1394-F1B4-C1CFC7A38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71" y="1722999"/>
            <a:ext cx="6051175" cy="1154672"/>
          </a:xfrm>
        </p:spPr>
        <p:txBody>
          <a:bodyPr anchor="b">
            <a:noAutofit/>
          </a:bodyPr>
          <a:lstStyle/>
          <a:p>
            <a:pPr algn="l"/>
            <a:r>
              <a:rPr lang="en-US" sz="5400" dirty="0" smtClean="0"/>
              <a:t>Extensions </a:t>
            </a:r>
            <a:r>
              <a:rPr lang="en-US" sz="5400" dirty="0"/>
              <a:t>Land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6826608-C4AE-48C6-4D91-5A0ECD089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064" y="3151699"/>
            <a:ext cx="4562371" cy="1130449"/>
          </a:xfrm>
        </p:spPr>
        <p:txBody>
          <a:bodyPr>
            <a:normAutofit/>
          </a:bodyPr>
          <a:lstStyle/>
          <a:p>
            <a:pPr algn="l"/>
            <a:r>
              <a:rPr lang="en-US" sz="2500" dirty="0" smtClean="0"/>
              <a:t>Extended Attack </a:t>
            </a:r>
            <a:r>
              <a:rPr lang="en-US" sz="2500" dirty="0"/>
              <a:t>Surface</a:t>
            </a: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CCD2371-7C94-B15E-1588-20F529262992}"/>
              </a:ext>
            </a:extLst>
          </p:cNvPr>
          <p:cNvSpPr txBox="1"/>
          <p:nvPr/>
        </p:nvSpPr>
        <p:spPr>
          <a:xfrm>
            <a:off x="9363134" y="6633881"/>
            <a:ext cx="2731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sqrx.com</a:t>
            </a:r>
            <a:r>
              <a:rPr lang="en-US" sz="1100" dirty="0"/>
              <a:t>/polymorphic-extensions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CCD2371-7C94-B15E-1588-20F529262992}"/>
              </a:ext>
            </a:extLst>
          </p:cNvPr>
          <p:cNvSpPr txBox="1"/>
          <p:nvPr/>
        </p:nvSpPr>
        <p:spPr>
          <a:xfrm>
            <a:off x="111559" y="6122894"/>
            <a:ext cx="11291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“Everything Published, Talked and/or discussed in this conference is solely based on my personal point of view, does not represent my current, or past employer”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6196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150FE0-952B-3A82-3326-33FCB8A0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6" y="253613"/>
            <a:ext cx="10515600" cy="660787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/>
              <a:t>Next 40 Mins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E4E321-64F5-5B67-EA92-06846B227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931" y="1405054"/>
            <a:ext cx="11608419" cy="510725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Structure</a:t>
            </a:r>
            <a:endParaRPr lang="en-US" dirty="0" smtClean="0"/>
          </a:p>
          <a:p>
            <a:r>
              <a:rPr lang="en-US" dirty="0" smtClean="0"/>
              <a:t>Why adversaries target browser extensions ?</a:t>
            </a:r>
          </a:p>
          <a:p>
            <a:r>
              <a:rPr lang="en-US" dirty="0" smtClean="0"/>
              <a:t>Types of Harmful </a:t>
            </a:r>
            <a:r>
              <a:rPr lang="en-US" dirty="0" smtClean="0"/>
              <a:t>Extension</a:t>
            </a:r>
            <a:endParaRPr lang="en-US" dirty="0" smtClean="0"/>
          </a:p>
          <a:p>
            <a:r>
              <a:rPr lang="en-US" dirty="0" smtClean="0"/>
              <a:t>Distribution</a:t>
            </a:r>
            <a:endParaRPr lang="en-US" dirty="0" smtClean="0"/>
          </a:p>
          <a:p>
            <a:r>
              <a:rPr lang="en-US" dirty="0" smtClean="0"/>
              <a:t>Demo - Content.JS</a:t>
            </a:r>
          </a:p>
          <a:p>
            <a:r>
              <a:rPr lang="en-US" dirty="0" smtClean="0"/>
              <a:t>Permissions</a:t>
            </a:r>
            <a:endParaRPr lang="en-US" dirty="0" smtClean="0"/>
          </a:p>
          <a:p>
            <a:r>
              <a:rPr lang="en-US" dirty="0" smtClean="0"/>
              <a:t>Demo </a:t>
            </a:r>
            <a:r>
              <a:rPr lang="en-US" dirty="0" smtClean="0"/>
              <a:t>- </a:t>
            </a:r>
            <a:r>
              <a:rPr lang="en-US" dirty="0" smtClean="0"/>
              <a:t>Infiltration and </a:t>
            </a:r>
            <a:r>
              <a:rPr lang="en-US" dirty="0" err="1" smtClean="0"/>
              <a:t>Exfiltration</a:t>
            </a:r>
            <a:endParaRPr lang="en-US" dirty="0" smtClean="0"/>
          </a:p>
          <a:p>
            <a:r>
              <a:rPr lang="en-US" dirty="0" smtClean="0"/>
              <a:t>Demo - </a:t>
            </a:r>
            <a:r>
              <a:rPr lang="en-US" dirty="0" err="1" smtClean="0"/>
              <a:t>ClickJacking</a:t>
            </a:r>
            <a:endParaRPr lang="en-US" dirty="0" smtClean="0"/>
          </a:p>
          <a:p>
            <a:r>
              <a:rPr lang="en-US" dirty="0" smtClean="0"/>
              <a:t>Why Malicious Extensions Are Difficult to Detect?</a:t>
            </a:r>
          </a:p>
          <a:p>
            <a:r>
              <a:rPr lang="en-US" dirty="0" smtClean="0"/>
              <a:t>Extension Hunting - defender , CQL</a:t>
            </a:r>
          </a:p>
          <a:p>
            <a:r>
              <a:rPr lang="en-US" dirty="0" smtClean="0"/>
              <a:t>Analysis </a:t>
            </a:r>
            <a:r>
              <a:rPr lang="en-US" dirty="0" smtClean="0"/>
              <a:t>Tools</a:t>
            </a:r>
          </a:p>
          <a:p>
            <a:r>
              <a:rPr lang="en-US" dirty="0" smtClean="0"/>
              <a:t>Mitigation</a:t>
            </a:r>
          </a:p>
          <a:p>
            <a:r>
              <a:rPr lang="en-US" dirty="0" smtClean="0"/>
              <a:t>Q &amp;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3461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D8E667-FCA6-7B23-A563-9F599188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71" y="167268"/>
            <a:ext cx="11164229" cy="814039"/>
          </a:xfrm>
        </p:spPr>
        <p:txBody>
          <a:bodyPr/>
          <a:lstStyle/>
          <a:p>
            <a:r>
              <a:rPr lang="en-US" dirty="0"/>
              <a:t>What are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DAE11D-71E5-2845-D27E-D1175F445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571" y="1248938"/>
            <a:ext cx="11164229" cy="49280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Small applications that enhance the capabilities of web browsers and improve the user experience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﻿﻿Adds new features</a:t>
            </a:r>
          </a:p>
          <a:p>
            <a:r>
              <a:rPr lang="en-US" dirty="0"/>
              <a:t>﻿﻿Modify web content</a:t>
            </a:r>
          </a:p>
          <a:p>
            <a:r>
              <a:rPr lang="en-US" dirty="0"/>
              <a:t>﻿﻿Automate tasks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92FE563-183E-68D3-7067-32A20168A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59" y="2640980"/>
            <a:ext cx="5969000" cy="396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766F13E-AFC8-E598-8C80-7A73D286F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41" y="4572015"/>
            <a:ext cx="6865124" cy="203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323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76669C-0216-AE5F-AA08-1A9DB7F4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20" y="104413"/>
            <a:ext cx="11086171" cy="57849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Extension Structure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53C89AA9-2A5C-E662-0564-CE77E4DED9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95520" y="3914128"/>
            <a:ext cx="7022790" cy="259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029FF52-85AD-1680-B795-73C79BB8C07D}"/>
              </a:ext>
            </a:extLst>
          </p:cNvPr>
          <p:cNvSpPr txBox="1"/>
          <p:nvPr/>
        </p:nvSpPr>
        <p:spPr>
          <a:xfrm>
            <a:off x="89210" y="1016000"/>
            <a:ext cx="12013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Manifest: </a:t>
            </a:r>
            <a:r>
              <a:rPr lang="en-US" dirty="0"/>
              <a:t>Center file contains metadata like name, version, permission and pointers to below file types, it controls everything in extension.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Sidebar</a:t>
            </a:r>
            <a:r>
              <a:rPr lang="en-US" b="1" dirty="0"/>
              <a:t>: </a:t>
            </a:r>
            <a:r>
              <a:rPr lang="en-US" dirty="0"/>
              <a:t>A </a:t>
            </a:r>
            <a:r>
              <a:rPr lang="en-US" dirty="0" smtClean="0"/>
              <a:t>panel </a:t>
            </a:r>
            <a:r>
              <a:rPr lang="en-US" dirty="0"/>
              <a:t>displayed at the left of the browser window, next to the web page.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Popup: </a:t>
            </a:r>
            <a:r>
              <a:rPr lang="en-US" dirty="0"/>
              <a:t>A dialog displayed when the user clicks on a toolbar button or address bar </a:t>
            </a:r>
            <a:r>
              <a:rPr lang="en-US" dirty="0" smtClean="0"/>
              <a:t>button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Options page: </a:t>
            </a:r>
            <a:r>
              <a:rPr lang="en-US" dirty="0" smtClean="0"/>
              <a:t>page shown when user accesses add-on preferences in browser's native add-ons manager.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Web Resources: </a:t>
            </a:r>
            <a:r>
              <a:rPr lang="en-US" dirty="0"/>
              <a:t>Images, JS, CSS accessible by web pages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5985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640" y="355600"/>
            <a:ext cx="11551920" cy="618744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Content Scripts: </a:t>
            </a:r>
            <a:r>
              <a:rPr lang="en-US" dirty="0" smtClean="0"/>
              <a:t>Extensions</a:t>
            </a:r>
            <a:r>
              <a:rPr lang="en-US" b="1" dirty="0" smtClean="0"/>
              <a:t> “Frontend”</a:t>
            </a:r>
          </a:p>
          <a:p>
            <a:r>
              <a:rPr lang="en-US" sz="2000" dirty="0" smtClean="0"/>
              <a:t>Injected into web pages, reads DOM &amp; form inputs</a:t>
            </a:r>
          </a:p>
          <a:p>
            <a:r>
              <a:rPr lang="en-IN" sz="2000" dirty="0" smtClean="0"/>
              <a:t>Loaded inside “</a:t>
            </a:r>
            <a:r>
              <a:rPr lang="en-IN" sz="2000" b="1" dirty="0" smtClean="0"/>
              <a:t>matching</a:t>
            </a:r>
            <a:r>
              <a:rPr lang="en-IN" sz="2000" dirty="0" smtClean="0"/>
              <a:t>” sites and </a:t>
            </a:r>
            <a:r>
              <a:rPr lang="en-US" sz="2000" dirty="0" smtClean="0"/>
              <a:t>either "</a:t>
            </a:r>
            <a:r>
              <a:rPr lang="en-US" sz="2000" b="1" dirty="0" err="1" smtClean="0"/>
              <a:t>js</a:t>
            </a:r>
            <a:r>
              <a:rPr lang="en-US" sz="2000" dirty="0" smtClean="0"/>
              <a:t>" or "</a:t>
            </a:r>
            <a:r>
              <a:rPr lang="en-US" sz="2000" b="1" dirty="0" err="1" smtClean="0"/>
              <a:t>css</a:t>
            </a:r>
            <a:r>
              <a:rPr lang="en-US" sz="2000" dirty="0" smtClean="0"/>
              <a:t>" are required.</a:t>
            </a:r>
          </a:p>
          <a:p>
            <a:r>
              <a:rPr lang="en-IN" sz="2000" dirty="0" smtClean="0"/>
              <a:t>Runs in a special VM context (its own </a:t>
            </a:r>
            <a:r>
              <a:rPr lang="en-IN" sz="2000" dirty="0" err="1" smtClean="0"/>
              <a:t>vars</a:t>
            </a:r>
            <a:r>
              <a:rPr lang="en-IN" sz="2000" dirty="0" smtClean="0"/>
              <a:t> and private-world) </a:t>
            </a:r>
          </a:p>
          <a:p>
            <a:endParaRPr lang="en-IN" sz="2000" dirty="0" smtClean="0"/>
          </a:p>
          <a:p>
            <a:pPr>
              <a:buNone/>
            </a:pPr>
            <a:r>
              <a:rPr lang="en-US" b="1" dirty="0" err="1" smtClean="0"/>
              <a:t>BackGround</a:t>
            </a:r>
            <a:r>
              <a:rPr lang="en-US" b="1" dirty="0" smtClean="0"/>
              <a:t> Scripts: </a:t>
            </a:r>
            <a:r>
              <a:rPr lang="en-US" dirty="0" smtClean="0"/>
              <a:t>Extensions</a:t>
            </a:r>
            <a:r>
              <a:rPr lang="en-US" b="1" dirty="0" smtClean="0"/>
              <a:t> “Backend”</a:t>
            </a:r>
          </a:p>
          <a:p>
            <a:r>
              <a:rPr lang="en-US" sz="2000" dirty="0" smtClean="0"/>
              <a:t>Scripts that respond to browser events and </a:t>
            </a:r>
            <a:r>
              <a:rPr lang="en-IN" sz="2000" dirty="0" smtClean="0"/>
              <a:t>Run once in a special Dedicated Process.</a:t>
            </a:r>
          </a:p>
          <a:p>
            <a:r>
              <a:rPr lang="en-IN" sz="2000" dirty="0" smtClean="0"/>
              <a:t>Access to more API’s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Persistent background scripts (MV2) </a:t>
            </a:r>
            <a:r>
              <a:rPr lang="en-US" sz="2000" dirty="0" smtClean="0"/>
              <a:t>runs continuously in the background from the moment the browser starts or the extension is loaded until the browser is closed or the extension is disabled</a:t>
            </a:r>
          </a:p>
          <a:p>
            <a:pPr>
              <a:buNone/>
            </a:pPr>
            <a:r>
              <a:rPr lang="en-US" sz="2000" b="1" dirty="0" smtClean="0"/>
              <a:t>Non-persistent background scripts (MV3) </a:t>
            </a:r>
            <a:r>
              <a:rPr lang="en-US" sz="2000" dirty="0" smtClean="0"/>
              <a:t>background scripts are strictly non-persistent by design, Here event-driven modules used which spin-up background script when required or shutdown when idle.</a:t>
            </a:r>
            <a:endParaRPr lang="en-IN" sz="2000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14E17A-154C-3F06-FE4D-A9ADBE2F6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36" y="267628"/>
            <a:ext cx="11141927" cy="758283"/>
          </a:xfrm>
        </p:spPr>
        <p:txBody>
          <a:bodyPr>
            <a:normAutofit/>
          </a:bodyPr>
          <a:lstStyle/>
          <a:p>
            <a:r>
              <a:rPr lang="en-US" dirty="0"/>
              <a:t>Why adversaries target browser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8F84EB-D32C-78F7-A5A5-3D8207876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354" y="1326995"/>
            <a:ext cx="11623289" cy="4973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Browser extensions first became mainstream in the early 2000s with their adoption by Firefox , Chromium and 2025 saw noticeable surge in malicious extensions uploaded to browser marketplaces.</a:t>
            </a:r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b="1" dirty="0" smtClean="0"/>
              <a:t>Implicit trust: </a:t>
            </a:r>
            <a:r>
              <a:rPr lang="en-US" sz="1800" dirty="0" smtClean="0"/>
              <a:t>User trust their browser and its marketplace</a:t>
            </a:r>
          </a:p>
          <a:p>
            <a:r>
              <a:rPr lang="en-US" sz="1800" b="1" dirty="0" err="1" smtClean="0"/>
              <a:t>Manipulable</a:t>
            </a:r>
            <a:r>
              <a:rPr lang="en-US" sz="1800" b="1" dirty="0" smtClean="0"/>
              <a:t> Code: </a:t>
            </a:r>
            <a:r>
              <a:rPr lang="en-US" sz="1800" dirty="0" smtClean="0"/>
              <a:t>extensions are JS code that adversaries can use to </a:t>
            </a:r>
            <a:r>
              <a:rPr lang="en-US" sz="1800" dirty="0" err="1" smtClean="0"/>
              <a:t>Exfiltrate</a:t>
            </a:r>
            <a:r>
              <a:rPr lang="en-US" sz="1800" dirty="0" smtClean="0"/>
              <a:t> cookies, Execute remote code or hijack searches</a:t>
            </a:r>
          </a:p>
          <a:p>
            <a:r>
              <a:rPr lang="en-US" sz="1800" b="1" dirty="0" smtClean="0"/>
              <a:t>Lenient Updates: </a:t>
            </a:r>
            <a:r>
              <a:rPr lang="en-US" sz="1800" dirty="0" smtClean="0"/>
              <a:t>security review for updates is often less stringent than for initial submission</a:t>
            </a:r>
          </a:p>
          <a:p>
            <a:r>
              <a:rPr lang="en-US" sz="1800" b="1" dirty="0" smtClean="0"/>
              <a:t>Automatic Deployment: </a:t>
            </a:r>
            <a:r>
              <a:rPr lang="en-US" sz="1800" dirty="0" smtClean="0"/>
              <a:t>Default auto-updating rapidly deploys malicious code to a massive user base</a:t>
            </a:r>
          </a:p>
          <a:p>
            <a:r>
              <a:rPr lang="en-US" sz="1800" b="1" dirty="0" smtClean="0"/>
              <a:t>Organizational blind spot: </a:t>
            </a:r>
            <a:r>
              <a:rPr lang="en-US" sz="1800" dirty="0" smtClean="0"/>
              <a:t>Organizations lack effective management and visibility into extension activity</a:t>
            </a:r>
          </a:p>
          <a:p>
            <a:r>
              <a:rPr lang="en-US" sz="1800" b="1" dirty="0" smtClean="0"/>
              <a:t>Developer Monetization: </a:t>
            </a:r>
            <a:r>
              <a:rPr lang="en-US" sz="1800" dirty="0" smtClean="0"/>
              <a:t>Developer who legitimately created and maintained an extension might unknowingly sell the extension to buyers with malicious intentions.</a:t>
            </a:r>
          </a:p>
          <a:p>
            <a:r>
              <a:rPr lang="en-IN" sz="1800" dirty="0" smtClean="0"/>
              <a:t>Cross Platform works on any desktop/OS.</a:t>
            </a: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170973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BE1EBA-B6A9-1CFC-F556-0B51C708D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69" y="154065"/>
            <a:ext cx="11219985" cy="648824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harmful web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E7A841-61C5-71A6-E7B0-EF9AAC673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15" y="1003609"/>
            <a:ext cx="11219985" cy="5700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Browser extensions come in various forms and sizes. To put things simply, we can categorize these extensions into three main subtypes</a:t>
            </a:r>
            <a:br>
              <a:rPr lang="en-US" sz="2000" dirty="0"/>
            </a:br>
            <a:endParaRPr lang="en-US" sz="2000" dirty="0"/>
          </a:p>
          <a:p>
            <a:r>
              <a:rPr lang="en-US" sz="1800" b="1" dirty="0"/>
              <a:t>Initially malicious extension: </a:t>
            </a:r>
            <a:r>
              <a:rPr lang="en-US" sz="1800" dirty="0"/>
              <a:t>An extension that was created by an adversary from scratch for a malicious purpose.</a:t>
            </a:r>
          </a:p>
          <a:p>
            <a:r>
              <a:rPr lang="en-US" sz="1800" b="1" dirty="0"/>
              <a:t>Compromised extension: </a:t>
            </a:r>
            <a:r>
              <a:rPr lang="en-US" sz="1800" dirty="0"/>
              <a:t>An initially legitimate extension that became owned by an adversary after directly purchasing the extension or compromising the extension’s developer account .</a:t>
            </a:r>
          </a:p>
          <a:p>
            <a:r>
              <a:rPr lang="en-US" sz="1800" b="1" dirty="0"/>
              <a:t>Risky extension: </a:t>
            </a:r>
            <a:r>
              <a:rPr lang="en-US" sz="1800" dirty="0"/>
              <a:t>A legitimate extension that has excessive permissions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05AB24B-7C1A-9FF3-2D06-4648FBF19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527" y="3635299"/>
            <a:ext cx="6890946" cy="314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9818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30" name="AutoShape 6" descr="How Bad Extensions Spread and Evol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25"/>
            <a:ext cx="11921331" cy="6572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00100"/>
            <a:ext cx="10591800" cy="5376864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IN" sz="4000" dirty="0" smtClean="0"/>
          </a:p>
          <a:p>
            <a:pPr algn="ctr">
              <a:buNone/>
            </a:pPr>
            <a:endParaRPr lang="en-IN" sz="4000" dirty="0" smtClean="0"/>
          </a:p>
          <a:p>
            <a:pPr algn="ctr">
              <a:buNone/>
            </a:pPr>
            <a:endParaRPr lang="en-IN" sz="4000" dirty="0" smtClean="0"/>
          </a:p>
          <a:p>
            <a:pPr algn="ctr">
              <a:buNone/>
            </a:pPr>
            <a:r>
              <a:rPr lang="en-IN" sz="4000" dirty="0" smtClean="0">
                <a:latin typeface="Arial Black" pitchFamily="34" charset="0"/>
              </a:rPr>
              <a:t>Demo - Content.JS MV2 </a:t>
            </a:r>
            <a:endParaRPr lang="en-US" sz="4000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8CF303-18E0-601D-7A8C-E3265E47C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244354"/>
            <a:ext cx="11203329" cy="873366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Manifest V2: Why Extensions Had a Larger Security Risk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2B1E8D-D3BC-635F-4E68-206464AF2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1219200"/>
            <a:ext cx="11734800" cy="5417127"/>
          </a:xfrm>
        </p:spPr>
        <p:txBody>
          <a:bodyPr>
            <a:normAutofit/>
          </a:bodyPr>
          <a:lstStyle/>
          <a:p>
            <a:r>
              <a:rPr lang="en-US" sz="2200" b="1" dirty="0" smtClean="0"/>
              <a:t>Persistent background page: </a:t>
            </a:r>
            <a:r>
              <a:rPr lang="en-US" sz="2200" dirty="0" smtClean="0"/>
              <a:t>runs continuously with full DOM/window access which is always-on code and risk</a:t>
            </a:r>
          </a:p>
          <a:p>
            <a:r>
              <a:rPr lang="en-US" sz="2200" b="1" dirty="0" smtClean="0"/>
              <a:t>Blocking </a:t>
            </a:r>
            <a:r>
              <a:rPr lang="en-US" sz="2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webRequest</a:t>
            </a:r>
            <a:r>
              <a:rPr lang="en-US" sz="2200" b="1" dirty="0" smtClean="0"/>
              <a:t> API: </a:t>
            </a:r>
            <a:r>
              <a:rPr lang="en-US" sz="2200" dirty="0" smtClean="0"/>
              <a:t>can inspect and modify every network request in real time which is powerful and favorite for traffic hijacking</a:t>
            </a:r>
          </a:p>
          <a:p>
            <a:r>
              <a:rPr lang="en-US" sz="2200" b="1" dirty="0" smtClean="0"/>
              <a:t>Remote code allowed: </a:t>
            </a:r>
            <a:r>
              <a:rPr lang="en-US" sz="2200" dirty="0" smtClean="0"/>
              <a:t>can fetch and execute JavaScript at runtime, bypassing store review entirely, harder to control and review</a:t>
            </a:r>
          </a:p>
          <a:p>
            <a:r>
              <a:rPr lang="en-US" sz="2200" b="1" dirty="0" smtClean="0"/>
              <a:t>Cookies without permission (Firefox): </a:t>
            </a:r>
            <a:r>
              <a:rPr lang="en-US" sz="2200" dirty="0" smtClean="0"/>
              <a:t>extensions can send authenticated requests to arbitrary domains even without </a:t>
            </a:r>
            <a:r>
              <a:rPr lang="en-US" sz="2200" dirty="0" err="1" smtClean="0"/>
              <a:t>host_permissions</a:t>
            </a:r>
            <a:endParaRPr lang="en-US" sz="2200" dirty="0" smtClean="0"/>
          </a:p>
          <a:p>
            <a:r>
              <a:rPr lang="en-US" sz="2200" b="1" dirty="0" smtClean="0"/>
              <a:t>Minimal CSP enforcement: </a:t>
            </a:r>
            <a:r>
              <a:rPr lang="en-US" sz="2200" dirty="0" smtClean="0"/>
              <a:t>extension pages are greater exposed to script injection</a:t>
            </a:r>
          </a:p>
          <a:p>
            <a:pPr>
              <a:buNone/>
            </a:pPr>
            <a:endParaRPr lang="en-US" sz="2200" b="1" i="1" dirty="0" smtClean="0"/>
          </a:p>
          <a:p>
            <a:pPr algn="ctr">
              <a:buNone/>
            </a:pPr>
            <a:r>
              <a:rPr lang="en-US" sz="2200" i="1" dirty="0" smtClean="0"/>
              <a:t>“MV2 treats the extension as fully trusted, high-privilege runtime code</a:t>
            </a:r>
            <a:br>
              <a:rPr lang="en-US" sz="2200" i="1" dirty="0" smtClean="0"/>
            </a:br>
            <a:r>
              <a:rPr lang="en-US" sz="2200" i="1" dirty="0" smtClean="0"/>
              <a:t>one compromise has a large blast radius”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6237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63DB13-E093-E1B3-5B9E-2713A731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67" y="154147"/>
            <a:ext cx="10515600" cy="583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Extension Permissions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500D69-0DCA-BB15-53AB-530330E2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1251"/>
            <a:ext cx="11685608" cy="5520602"/>
          </a:xfrm>
        </p:spPr>
        <p:txBody>
          <a:bodyPr/>
          <a:lstStyle/>
          <a:p>
            <a:r>
              <a:rPr lang="en-US" sz="1800" dirty="0"/>
              <a:t>Developers have to declare all required things in </a:t>
            </a:r>
            <a:r>
              <a:rPr lang="en-US" sz="1800" dirty="0" err="1" smtClean="0"/>
              <a:t>manifest.json</a:t>
            </a:r>
            <a:endParaRPr lang="en-US" sz="1800" dirty="0" smtClean="0"/>
          </a:p>
          <a:p>
            <a:r>
              <a:rPr lang="en-US" sz="1800" dirty="0" smtClean="0"/>
              <a:t>set of rules that dictate what actions an extension is allowed to perform within your browser</a:t>
            </a:r>
          </a:p>
          <a:p>
            <a:r>
              <a:rPr lang="en-US" sz="1800" dirty="0" smtClean="0"/>
              <a:t>Permissions are usually the cornerstone of extension-based </a:t>
            </a:r>
            <a:r>
              <a:rPr lang="en-US" sz="1800" dirty="0" err="1" smtClean="0"/>
              <a:t>cyberattacks</a:t>
            </a:r>
            <a:r>
              <a:rPr lang="en-US" sz="1800" dirty="0" smtClean="0"/>
              <a:t>. </a:t>
            </a:r>
          </a:p>
          <a:p>
            <a:pPr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218" name="Picture 2" descr="https://www.debugbear.com/assets/images/permissions-bc37b4f1cc75090388481891442b4f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57850" y="2107507"/>
            <a:ext cx="6296025" cy="4607618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6355318"/>
            <a:ext cx="79914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https://www.debugbear.com/blog/counting-chrome-extensions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627" y="2505075"/>
            <a:ext cx="440061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786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5" y="196850"/>
            <a:ext cx="11830050" cy="6470650"/>
          </a:xfrm>
        </p:spPr>
        <p:txBody>
          <a:bodyPr/>
          <a:lstStyle/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4625" y="233891"/>
          <a:ext cx="11960225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1075"/>
                <a:gridCol w="4429125"/>
                <a:gridCol w="4010025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Permission 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Direct Session Hijack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Credential Theft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Content Scripts (ISOLATED)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OAuth</a:t>
                      </a:r>
                      <a:r>
                        <a:rPr lang="en-IN" dirty="0" smtClean="0"/>
                        <a:t> Access</a:t>
                      </a:r>
                      <a:r>
                        <a:rPr lang="en-IN" baseline="0" dirty="0" smtClean="0"/>
                        <a:t> Token, refresh token, </a:t>
                      </a:r>
                      <a:r>
                        <a:rPr lang="en-IN" baseline="0" dirty="0" err="1" smtClean="0"/>
                        <a:t>Json</a:t>
                      </a:r>
                      <a:r>
                        <a:rPr lang="en-IN" baseline="0" dirty="0" smtClean="0"/>
                        <a:t> web token (JWT)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Session cookie, </a:t>
                      </a:r>
                      <a:r>
                        <a:rPr lang="en-IN" dirty="0" err="1" smtClean="0"/>
                        <a:t>OAuth</a:t>
                      </a:r>
                      <a:r>
                        <a:rPr lang="en-IN" dirty="0" smtClean="0"/>
                        <a:t> Code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 smtClean="0"/>
                        <a:t>WebRequest</a:t>
                      </a:r>
                      <a:r>
                        <a:rPr lang="en-IN" dirty="0" smtClean="0"/>
                        <a:t> + Host permission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Session cookie, </a:t>
                      </a:r>
                      <a:r>
                        <a:rPr lang="en-IN" dirty="0" err="1" smtClean="0"/>
                        <a:t>OAuth</a:t>
                      </a:r>
                      <a:r>
                        <a:rPr lang="en-IN" dirty="0" smtClean="0"/>
                        <a:t> Refresh token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Session token, </a:t>
                      </a:r>
                      <a:r>
                        <a:rPr lang="en-IN" dirty="0" err="1" smtClean="0"/>
                        <a:t>OAuth</a:t>
                      </a:r>
                      <a:r>
                        <a:rPr lang="en-IN" dirty="0" smtClean="0"/>
                        <a:t> Code, API key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debugger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Session cookie, </a:t>
                      </a:r>
                      <a:r>
                        <a:rPr lang="en-IN" dirty="0" err="1" smtClean="0"/>
                        <a:t>OAuth</a:t>
                      </a:r>
                      <a:r>
                        <a:rPr lang="en-IN" dirty="0" smtClean="0"/>
                        <a:t> Access and Refresh token, JWT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Tokens: App Auth</a:t>
                      </a:r>
                      <a:r>
                        <a:rPr lang="en-IN" baseline="0" dirty="0" smtClean="0"/>
                        <a:t> (JS), Stored, </a:t>
                      </a:r>
                      <a:r>
                        <a:rPr lang="en-IN" baseline="0" dirty="0" err="1" smtClean="0"/>
                        <a:t>websocket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Proxy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Session cookie, </a:t>
                      </a:r>
                      <a:r>
                        <a:rPr lang="en-IN" dirty="0" err="1" smtClean="0"/>
                        <a:t>OAuth</a:t>
                      </a:r>
                      <a:r>
                        <a:rPr lang="en-IN" dirty="0" smtClean="0"/>
                        <a:t> Access and Refresh token, JWT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Session token, API key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Devtools_Page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Session cookie, </a:t>
                      </a:r>
                      <a:r>
                        <a:rPr lang="en-IN" dirty="0" err="1" smtClean="0"/>
                        <a:t>OAuth</a:t>
                      </a:r>
                      <a:r>
                        <a:rPr lang="en-IN" dirty="0" smtClean="0"/>
                        <a:t> Access token, JWT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API key, </a:t>
                      </a:r>
                      <a:r>
                        <a:rPr lang="en-IN" dirty="0" err="1" smtClean="0"/>
                        <a:t>OAuth</a:t>
                      </a:r>
                      <a:r>
                        <a:rPr lang="en-IN" dirty="0" smtClean="0"/>
                        <a:t> Code,</a:t>
                      </a:r>
                      <a:br>
                        <a:rPr lang="en-IN" dirty="0" smtClean="0"/>
                      </a:br>
                      <a:r>
                        <a:rPr lang="en-IN" dirty="0" smtClean="0"/>
                        <a:t>Tokens: App Auth</a:t>
                      </a:r>
                      <a:r>
                        <a:rPr lang="en-IN" baseline="0" dirty="0" smtClean="0"/>
                        <a:t> (JS), Stored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00025" y="4400550"/>
            <a:ext cx="110299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Chrome: </a:t>
            </a:r>
            <a:r>
              <a:rPr lang="en-US" dirty="0" smtClean="0">
                <a:hlinkClick r:id="rId2"/>
              </a:rPr>
              <a:t>https://support.google.com/chrome/a/answer/9897812</a:t>
            </a:r>
            <a:endParaRPr lang="en-US" dirty="0" smtClean="0"/>
          </a:p>
          <a:p>
            <a:endParaRPr lang="en-IN" dirty="0" smtClean="0"/>
          </a:p>
          <a:p>
            <a:r>
              <a:rPr lang="en-IN" dirty="0" smtClean="0"/>
              <a:t>Firefox: </a:t>
            </a:r>
            <a:r>
              <a:rPr lang="en-IN" dirty="0" smtClean="0">
                <a:hlinkClick r:id="rId3"/>
              </a:rPr>
              <a:t>https://support.mozilla.org/en-US/kb/permission-request-messages-firefox-extensions</a:t>
            </a:r>
            <a:r>
              <a:rPr lang="en-IN" dirty="0" smtClean="0"/>
              <a:t> </a:t>
            </a:r>
          </a:p>
          <a:p>
            <a:endParaRPr lang="en-IN" dirty="0" smtClean="0"/>
          </a:p>
          <a:p>
            <a:r>
              <a:rPr lang="en-IN" dirty="0" smtClean="0"/>
              <a:t>Safari: </a:t>
            </a:r>
            <a:r>
              <a:rPr lang="en-IN" dirty="0" smtClean="0">
                <a:hlinkClick r:id="rId4"/>
              </a:rPr>
              <a:t>https://developer.apple.com/documentation/safariservices/managing-safari-web-extension-permissions</a:t>
            </a:r>
            <a:r>
              <a:rPr lang="en-IN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00100"/>
            <a:ext cx="10591800" cy="5376864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IN" sz="4000" dirty="0" smtClean="0"/>
          </a:p>
          <a:p>
            <a:pPr algn="ctr">
              <a:buNone/>
            </a:pPr>
            <a:endParaRPr lang="en-IN" sz="4000" dirty="0" smtClean="0"/>
          </a:p>
          <a:p>
            <a:pPr algn="ctr">
              <a:buNone/>
            </a:pPr>
            <a:endParaRPr lang="en-IN" sz="4000" dirty="0" smtClean="0"/>
          </a:p>
          <a:p>
            <a:pPr algn="ctr">
              <a:buNone/>
            </a:pPr>
            <a:r>
              <a:rPr lang="en-US" sz="4000" dirty="0" smtClean="0">
                <a:latin typeface="Arial Black" pitchFamily="34" charset="0"/>
              </a:rPr>
              <a:t>Demo Attack Surface - Infiltration and </a:t>
            </a:r>
            <a:r>
              <a:rPr lang="en-US" sz="4000" dirty="0" err="1" smtClean="0">
                <a:latin typeface="Arial Black" pitchFamily="34" charset="0"/>
              </a:rPr>
              <a:t>Exfiltration</a:t>
            </a:r>
            <a:endParaRPr lang="en-US" sz="4000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9560"/>
            <a:ext cx="11689080" cy="869315"/>
          </a:xfrm>
        </p:spPr>
        <p:txBody>
          <a:bodyPr/>
          <a:lstStyle/>
          <a:p>
            <a:r>
              <a:rPr lang="en-US" dirty="0" smtClean="0"/>
              <a:t>Manifest V3: How Security Is Improved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11719560" cy="5151120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Non-persistent service worker: </a:t>
            </a:r>
            <a:r>
              <a:rPr lang="en-US" sz="2000" dirty="0" smtClean="0"/>
              <a:t>background logic sleeps when idle, shrinking the always-on exposure window</a:t>
            </a:r>
          </a:p>
          <a:p>
            <a:r>
              <a:rPr lang="en-US" sz="2000" b="1" dirty="0" err="1" smtClean="0"/>
              <a:t>declarativeNetRequest</a:t>
            </a:r>
            <a:r>
              <a:rPr lang="en-US" sz="2000" b="1" dirty="0" smtClean="0"/>
              <a:t>: </a:t>
            </a:r>
            <a:r>
              <a:rPr lang="en-US" sz="2000" dirty="0" smtClean="0"/>
              <a:t>static, pre-declared rules evaluated by the browser itself where the extension </a:t>
            </a:r>
            <a:r>
              <a:rPr lang="en-US" sz="2000" smtClean="0"/>
              <a:t>never directly </a:t>
            </a:r>
            <a:r>
              <a:rPr lang="en-US" sz="2000" dirty="0" smtClean="0"/>
              <a:t>inspect raw traffic raw request/response</a:t>
            </a:r>
          </a:p>
          <a:p>
            <a:r>
              <a:rPr lang="en-US" sz="2000" b="1" dirty="0" smtClean="0"/>
              <a:t>No remote code execution: </a:t>
            </a:r>
            <a:r>
              <a:rPr lang="en-US" sz="2000" dirty="0" smtClean="0"/>
              <a:t>all logic must included in the reviewed extension package which reduces the dynamic payload loophole/abuse.</a:t>
            </a:r>
          </a:p>
          <a:p>
            <a:r>
              <a:rPr lang="en-US" sz="2000" b="1" dirty="0" smtClean="0"/>
              <a:t>Stricter default CSP: </a:t>
            </a:r>
            <a:r>
              <a:rPr lang="en-US" sz="2000" dirty="0" smtClean="0"/>
              <a:t>inline scripts, </a:t>
            </a:r>
            <a:r>
              <a:rPr lang="en-US" sz="2000" dirty="0" err="1" smtClean="0"/>
              <a:t>eval</a:t>
            </a:r>
            <a:r>
              <a:rPr lang="en-US" sz="2000" dirty="0" smtClean="0"/>
              <a:t>() are blocked by default which reduces script injection risk</a:t>
            </a:r>
          </a:p>
          <a:p>
            <a:r>
              <a:rPr lang="en-US" sz="2000" b="1" dirty="0" smtClean="0"/>
              <a:t>Explicit </a:t>
            </a:r>
            <a:r>
              <a:rPr lang="en-US" sz="2000" b="1" dirty="0" err="1" smtClean="0"/>
              <a:t>host_permissions</a:t>
            </a:r>
            <a:r>
              <a:rPr lang="en-US" sz="2000" b="1" dirty="0" smtClean="0"/>
              <a:t> : </a:t>
            </a:r>
            <a:r>
              <a:rPr lang="en-US" sz="2000" dirty="0" smtClean="0"/>
              <a:t>Chromium extensions must explicitly declare which sites they can act on before sending cookies or requests</a:t>
            </a:r>
          </a:p>
          <a:p>
            <a:pPr>
              <a:buNone/>
            </a:pPr>
            <a:endParaRPr lang="en-IN" sz="2000" dirty="0" smtClean="0"/>
          </a:p>
          <a:p>
            <a:pPr algn="ctr">
              <a:buNone/>
            </a:pPr>
            <a:r>
              <a:rPr lang="en-US" sz="2000" b="1" dirty="0" smtClean="0"/>
              <a:t>Store review can still miss malicious logic.</a:t>
            </a:r>
            <a:endParaRPr lang="en-US" sz="2000" dirty="0" smtClean="0"/>
          </a:p>
          <a:p>
            <a:pPr algn="ctr">
              <a:buNone/>
            </a:pPr>
            <a:r>
              <a:rPr lang="en-US" sz="2000" dirty="0" smtClean="0"/>
              <a:t>Permission creep, DOM/</a:t>
            </a:r>
            <a:r>
              <a:rPr lang="en-US" sz="2000" dirty="0" err="1" smtClean="0"/>
              <a:t>clickjacking</a:t>
            </a:r>
            <a:r>
              <a:rPr lang="en-US" sz="2000" dirty="0" smtClean="0"/>
              <a:t> attacks, and browser specific differences such as Firefox's continued MV2 support can still create risk.</a:t>
            </a:r>
          </a:p>
          <a:p>
            <a:pPr algn="ctr">
              <a:buNone/>
            </a:pPr>
            <a:r>
              <a:rPr lang="en-US" sz="2000" dirty="0" smtClean="0"/>
              <a:t>MV3 reduces the attack surface but it does not make browser extensions automatically safe.</a:t>
            </a:r>
            <a:endParaRPr lang="en-I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375AE1-A461-B18C-D81D-36B0890E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243205"/>
            <a:ext cx="11612880" cy="5949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Demo MV3 - </a:t>
            </a:r>
            <a:r>
              <a:rPr lang="en-US" dirty="0" err="1" smtClean="0"/>
              <a:t>ClickJacking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4544C3-4B87-CE2F-8B6B-A2566F94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349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 smtClean="0"/>
              <a:t>Marek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Toth</a:t>
            </a:r>
            <a:r>
              <a:rPr lang="en-US" sz="2000" b="1" dirty="0" smtClean="0"/>
              <a:t>, DEF CON 33 (Aug 2025) – 11 password-manager extensions tested, ~40M installs affected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b="1" dirty="0" smtClean="0"/>
              <a:t>Inject: </a:t>
            </a:r>
            <a:r>
              <a:rPr lang="en-US" sz="2000" dirty="0" smtClean="0"/>
              <a:t>the extension drops its UI (</a:t>
            </a:r>
            <a:r>
              <a:rPr lang="en-US" sz="2000" dirty="0" err="1" smtClean="0"/>
              <a:t>autofill</a:t>
            </a:r>
            <a:r>
              <a:rPr lang="en-US" sz="2000" dirty="0" smtClean="0"/>
              <a:t> dropdown, login prompt) straight into the page’s DOM – not an isolated </a:t>
            </a:r>
            <a:r>
              <a:rPr lang="en-US" sz="2000" dirty="0" err="1" smtClean="0"/>
              <a:t>iframe</a:t>
            </a:r>
            <a:endParaRPr lang="en-US" sz="2000" dirty="0" smtClean="0"/>
          </a:p>
          <a:p>
            <a:r>
              <a:rPr lang="en-US" sz="2000" b="1" dirty="0" smtClean="0"/>
              <a:t>Bait: </a:t>
            </a:r>
            <a:r>
              <a:rPr lang="en-US" sz="2000" dirty="0" smtClean="0"/>
              <a:t>attacker page renders a decoy (e.g. a “cookie consent” banner) and calls focus() on a hidden input to trigger the extension’s </a:t>
            </a:r>
            <a:r>
              <a:rPr lang="en-US" sz="2000" dirty="0" err="1" smtClean="0"/>
              <a:t>autofill</a:t>
            </a:r>
            <a:r>
              <a:rPr lang="en-US" sz="2000" dirty="0" smtClean="0"/>
              <a:t> UI</a:t>
            </a:r>
          </a:p>
          <a:p>
            <a:r>
              <a:rPr lang="en-US" sz="2000" b="1" dirty="0" smtClean="0"/>
              <a:t>Hide: </a:t>
            </a:r>
            <a:r>
              <a:rPr lang="en-US" sz="2000" dirty="0" smtClean="0"/>
              <a:t>script sets the injected UI to opacity:0 (or overlays it) – pointer-events still reach it, so it stays fully clickable</a:t>
            </a:r>
          </a:p>
          <a:p>
            <a:r>
              <a:rPr lang="en-US" sz="2000" b="1" dirty="0" smtClean="0"/>
              <a:t>Redirect the click: </a:t>
            </a:r>
            <a:r>
              <a:rPr lang="en-US" sz="2000" dirty="0" smtClean="0"/>
              <a:t>victim clicks the visible decoy – the click actually lands on the invisible extension element and </a:t>
            </a:r>
            <a:r>
              <a:rPr lang="en-US" sz="2000" dirty="0" err="1" smtClean="0"/>
              <a:t>autofill</a:t>
            </a:r>
            <a:r>
              <a:rPr lang="en-US" sz="2000" dirty="0" smtClean="0"/>
              <a:t> fires into an attacker-controlled form</a:t>
            </a:r>
          </a:p>
          <a:p>
            <a:r>
              <a:rPr lang="en-US" sz="2000" b="1" dirty="0" err="1" smtClean="0"/>
              <a:t>Exfiltrate</a:t>
            </a:r>
            <a:r>
              <a:rPr lang="en-US" sz="2000" b="1" dirty="0" smtClean="0"/>
              <a:t>: </a:t>
            </a:r>
            <a:r>
              <a:rPr lang="en-US" sz="2000" dirty="0" smtClean="0"/>
              <a:t>page reads the now-filled hidden form and ships it to an attacker server – credentials, card data, personal info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b="1" i="1" dirty="0" smtClean="0"/>
              <a:t>Why it matters: </a:t>
            </a:r>
            <a:r>
              <a:rPr lang="en-US" sz="2000" i="1" dirty="0" smtClean="0"/>
              <a:t>one click, pure CSS/DOM manipulation, no elevated permission, </a:t>
            </a:r>
            <a:r>
              <a:rPr lang="en-US" sz="2000" i="1" dirty="0" err="1" smtClean="0"/>
              <a:t>webRequest</a:t>
            </a:r>
            <a:r>
              <a:rPr lang="en-US" sz="2000" i="1" dirty="0" smtClean="0"/>
              <a:t>, or </a:t>
            </a:r>
            <a:r>
              <a:rPr lang="en-US" sz="2000" i="1" dirty="0" err="1" smtClean="0"/>
              <a:t>host_permission</a:t>
            </a:r>
            <a:r>
              <a:rPr lang="en-US" sz="2000" i="1" dirty="0" smtClean="0"/>
              <a:t> required, and it works identically on MV2 and MV3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xmlns="" val="248041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24" y="193675"/>
            <a:ext cx="11839575" cy="6445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Malicious Extensions Are Difficult to Detect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143000"/>
            <a:ext cx="11563350" cy="5438775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Huge Ecosystem:</a:t>
            </a:r>
            <a:r>
              <a:rPr lang="en-US" sz="2000" dirty="0" smtClean="0"/>
              <a:t> Thousands of extensions make manual security review difficult and time-consuming. </a:t>
            </a:r>
          </a:p>
          <a:p>
            <a:r>
              <a:rPr lang="en-IN" sz="2000" b="1" dirty="0" smtClean="0"/>
              <a:t>Bypassing</a:t>
            </a:r>
            <a:r>
              <a:rPr lang="en-IN" sz="2000" dirty="0" smtClean="0"/>
              <a:t> web store code analysis checks by dynamically loading malicious content.</a:t>
            </a:r>
            <a:endParaRPr lang="en-US" sz="2000" dirty="0" smtClean="0"/>
          </a:p>
          <a:p>
            <a:r>
              <a:rPr lang="en-US" sz="2000" b="1" dirty="0" smtClean="0"/>
              <a:t>Malicious Extensions Can Persist:</a:t>
            </a:r>
            <a:r>
              <a:rPr lang="en-US" sz="2000" dirty="0" smtClean="0"/>
              <a:t> Lag of weeks or months for Harmful extensions to being identified and removed from stores.</a:t>
            </a:r>
          </a:p>
          <a:p>
            <a:r>
              <a:rPr lang="en-US" sz="2000" b="1" dirty="0" smtClean="0"/>
              <a:t>Broad Permissions:</a:t>
            </a:r>
            <a:r>
              <a:rPr lang="en-US" sz="2000" dirty="0" smtClean="0"/>
              <a:t> Extensions can request access to websites, browsing data, cookies, and other sensitive information. </a:t>
            </a:r>
          </a:p>
          <a:p>
            <a:r>
              <a:rPr lang="en-US" sz="2000" b="1" dirty="0" smtClean="0"/>
              <a:t>Legitimate-Looking Behavior:</a:t>
            </a:r>
            <a:r>
              <a:rPr lang="en-US" sz="2000" dirty="0" smtClean="0"/>
              <a:t> Malicious extensions can appear normal and provide useful functionality to avoid suspicion. </a:t>
            </a:r>
          </a:p>
          <a:p>
            <a:r>
              <a:rPr lang="en-US" sz="2000" b="1" dirty="0" smtClean="0"/>
              <a:t>Constantly Changing Threats:</a:t>
            </a:r>
            <a:r>
              <a:rPr lang="en-US" sz="2000" dirty="0" smtClean="0"/>
              <a:t> Extensions can be updated after installation, potentially introducing malicious code later. </a:t>
            </a:r>
          </a:p>
          <a:p>
            <a:r>
              <a:rPr lang="en-IN" sz="2000" dirty="0" smtClean="0"/>
              <a:t>Even when removed , Extension are </a:t>
            </a:r>
            <a:r>
              <a:rPr lang="en-IN" sz="2000" dirty="0" err="1" smtClean="0"/>
              <a:t>aften</a:t>
            </a:r>
            <a:r>
              <a:rPr lang="en-IN" sz="2000" dirty="0" smtClean="0"/>
              <a:t> re-skinned and re-uploaded and process starts again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A8222-BCF2-E2F2-CC46-BA236656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17" y="168355"/>
            <a:ext cx="11847654" cy="711321"/>
          </a:xfrm>
        </p:spPr>
        <p:txBody>
          <a:bodyPr/>
          <a:lstStyle/>
          <a:p>
            <a:r>
              <a:rPr lang="en-IN" dirty="0" smtClean="0"/>
              <a:t>Suspicious Extension Hunting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36CB0C-188C-B85F-078F-598BC1AAE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123" y="1032094"/>
            <a:ext cx="11751398" cy="563125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sz="1400" dirty="0" smtClean="0"/>
              <a:t>1) Defender Collects the Extensions related Logs under table: </a:t>
            </a:r>
            <a:r>
              <a:rPr lang="en-US" sz="1400" b="1" dirty="0" err="1" smtClean="0">
                <a:solidFill>
                  <a:srgbClr val="C00000"/>
                </a:solidFill>
              </a:rPr>
              <a:t>DeviceTvmBrowserExtensions</a:t>
            </a:r>
            <a:endParaRPr lang="en-US" sz="14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IN" sz="1400" b="1" dirty="0" smtClean="0"/>
              <a:t>Create an </a:t>
            </a:r>
            <a:r>
              <a:rPr lang="en-IN" sz="1400" b="1" dirty="0" err="1" smtClean="0"/>
              <a:t>datatable</a:t>
            </a:r>
            <a:r>
              <a:rPr lang="en-IN" sz="1400" b="1" dirty="0" smtClean="0"/>
              <a:t> with know Malicious Extension ID with Threat </a:t>
            </a:r>
            <a:r>
              <a:rPr lang="en-IN" sz="1400" b="1" dirty="0" err="1" smtClean="0"/>
              <a:t>Intels</a:t>
            </a:r>
            <a:r>
              <a:rPr lang="en-IN" sz="1400" b="1" dirty="0" smtClean="0"/>
              <a:t> to create the Correlation query</a:t>
            </a:r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endParaRPr lang="en-IN" sz="1400" b="1" dirty="0" smtClean="0"/>
          </a:p>
          <a:p>
            <a:pPr>
              <a:buNone/>
            </a:pPr>
            <a:r>
              <a:rPr lang="en-IN" sz="1400" b="1" dirty="0" smtClean="0"/>
              <a:t>2)</a:t>
            </a:r>
            <a:r>
              <a:rPr lang="en-US" sz="1400" dirty="0" smtClean="0"/>
              <a:t> </a:t>
            </a:r>
            <a:r>
              <a:rPr lang="en-IN" sz="1400" dirty="0" smtClean="0"/>
              <a:t>We can also use </a:t>
            </a:r>
            <a:r>
              <a:rPr lang="en-IN" sz="1400" dirty="0" smtClean="0">
                <a:hlinkClick r:id="rId2"/>
              </a:rPr>
              <a:t>“Falcon Exposure Management module” </a:t>
            </a:r>
            <a:r>
              <a:rPr lang="en-IN" sz="1400" dirty="0" smtClean="0"/>
              <a:t>in Falcon EDR under Event: </a:t>
            </a:r>
            <a:r>
              <a:rPr lang="en-IN" sz="1400" b="1" dirty="0" err="1" smtClean="0">
                <a:solidFill>
                  <a:srgbClr val="C00000"/>
                </a:solidFill>
              </a:rPr>
              <a:t>InstalledBrowserExtension</a:t>
            </a:r>
            <a:endParaRPr lang="en-IN" sz="14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IN" sz="1400" dirty="0" smtClean="0"/>
              <a:t>Refer: </a:t>
            </a:r>
            <a:r>
              <a:rPr lang="en-IN" sz="1400" dirty="0" smtClean="0">
                <a:hlinkClick r:id="rId3"/>
              </a:rPr>
              <a:t>https://www.byteray.com/cql-hub/malicious-chrome-extension-freevpn-one-detection</a:t>
            </a:r>
            <a:r>
              <a:rPr lang="en-IN" sz="1400" dirty="0" smtClean="0"/>
              <a:t> </a:t>
            </a:r>
          </a:p>
          <a:p>
            <a:pPr>
              <a:buNone/>
            </a:pPr>
            <a:endParaRPr lang="en-IN" sz="1400" dirty="0" smtClean="0"/>
          </a:p>
          <a:p>
            <a:pPr>
              <a:buNone/>
            </a:pPr>
            <a:r>
              <a:rPr lang="en-IN" sz="1400" b="1" dirty="0" smtClean="0"/>
              <a:t>3) Hunt  Idea: </a:t>
            </a:r>
          </a:p>
          <a:p>
            <a:r>
              <a:rPr lang="en-US" sz="1400" dirty="0" smtClean="0"/>
              <a:t>Newly Installed Browser Extension</a:t>
            </a:r>
            <a:r>
              <a:rPr lang="en-IN" sz="1400" b="1" dirty="0" smtClean="0"/>
              <a:t> </a:t>
            </a:r>
            <a:r>
              <a:rPr lang="en-US" sz="1400" dirty="0" smtClean="0"/>
              <a:t>on High-Value Device</a:t>
            </a:r>
          </a:p>
          <a:p>
            <a:r>
              <a:rPr lang="en-US" sz="1400" dirty="0" smtClean="0"/>
              <a:t>Extension with Sensitive Permissions or Broad Host Access</a:t>
            </a:r>
          </a:p>
          <a:p>
            <a:pPr>
              <a:buNone/>
            </a:pPr>
            <a:r>
              <a:rPr lang="en-IN" sz="1400" dirty="0" smtClean="0"/>
              <a:t>4) Block using GPO policy and </a:t>
            </a:r>
            <a:r>
              <a:rPr lang="en-IN" sz="1400" dirty="0" err="1" smtClean="0"/>
              <a:t>intune</a:t>
            </a:r>
            <a:r>
              <a:rPr lang="en-IN" sz="1400" dirty="0" smtClean="0"/>
              <a:t>.</a:t>
            </a:r>
            <a:endParaRPr lang="en-US" sz="1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2724" y="1710266"/>
          <a:ext cx="1159827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827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let </a:t>
                      </a:r>
                      <a:r>
                        <a:rPr lang="en-US" sz="1400" dirty="0" err="1" smtClean="0"/>
                        <a:t>MaliciousExtensions</a:t>
                      </a:r>
                      <a:r>
                        <a:rPr lang="en-US" sz="1400" dirty="0" smtClean="0"/>
                        <a:t> = </a:t>
                      </a:r>
                      <a:r>
                        <a:rPr lang="en-US" sz="1400" dirty="0" err="1" smtClean="0"/>
                        <a:t>datatable</a:t>
                      </a:r>
                      <a:r>
                        <a:rPr lang="en-US" sz="1400" dirty="0" smtClean="0"/>
                        <a:t> (</a:t>
                      </a:r>
                      <a:r>
                        <a:rPr lang="en-US" sz="1400" dirty="0" err="1" smtClean="0"/>
                        <a:t>MaliciousExtensionId:string</a:t>
                      </a:r>
                      <a:r>
                        <a:rPr lang="en-US" sz="1400" dirty="0" smtClean="0"/>
                        <a:t>,  </a:t>
                      </a:r>
                      <a:r>
                        <a:rPr lang="en-US" sz="1400" dirty="0" err="1" smtClean="0"/>
                        <a:t>ThreatType:string</a:t>
                      </a:r>
                      <a:r>
                        <a:rPr lang="en-US" sz="1400" dirty="0" smtClean="0"/>
                        <a:t>,   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err="1" smtClean="0"/>
                        <a:t>Source:string</a:t>
                      </a:r>
                      <a:r>
                        <a:rPr lang="en-US" sz="1400" dirty="0" smtClean="0"/>
                        <a:t>)</a:t>
                      </a:r>
                      <a:br>
                        <a:rPr lang="en-US" sz="1400" dirty="0" smtClean="0"/>
                      </a:br>
                      <a:r>
                        <a:rPr lang="en-US" sz="1400" dirty="0" smtClean="0"/>
                        <a:t>[    "</a:t>
                      </a:r>
                      <a:r>
                        <a:rPr lang="en-US" sz="1400" dirty="0" err="1" smtClean="0"/>
                        <a:t>abcdefghijklmnopabcdefghijklmnop</a:t>
                      </a:r>
                      <a:r>
                        <a:rPr lang="en-US" sz="1400" dirty="0" smtClean="0"/>
                        <a:t>", "Credential Theft", "</a:t>
                      </a:r>
                      <a:r>
                        <a:rPr lang="en-US" sz="1400" dirty="0" err="1" smtClean="0"/>
                        <a:t>Koi</a:t>
                      </a:r>
                      <a:r>
                        <a:rPr lang="en-US" sz="1400" dirty="0" smtClean="0"/>
                        <a:t> DEX",      "12345678901234567890123456789012", "Data Theft", "Internal TI"];</a:t>
                      </a:r>
                    </a:p>
                    <a:p>
                      <a:endParaRPr lang="en-US" sz="1400" dirty="0" smtClean="0"/>
                    </a:p>
                    <a:p>
                      <a:r>
                        <a:rPr lang="en-US" sz="1400" dirty="0" err="1" smtClean="0"/>
                        <a:t>DeviceTvmBrowserExtensions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| extend </a:t>
                      </a:r>
                      <a:r>
                        <a:rPr lang="en-US" sz="1400" dirty="0" err="1" smtClean="0"/>
                        <a:t>ExtensionIdLower</a:t>
                      </a:r>
                      <a:r>
                        <a:rPr lang="en-US" sz="1400" dirty="0" smtClean="0"/>
                        <a:t> = </a:t>
                      </a:r>
                      <a:r>
                        <a:rPr lang="en-US" sz="1400" dirty="0" err="1" smtClean="0"/>
                        <a:t>tolower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 err="1" smtClean="0"/>
                        <a:t>ExtensionId</a:t>
                      </a:r>
                      <a:r>
                        <a:rPr lang="en-US" sz="1400" dirty="0" smtClean="0"/>
                        <a:t>)</a:t>
                      </a:r>
                    </a:p>
                    <a:p>
                      <a:r>
                        <a:rPr lang="en-US" sz="1400" dirty="0" smtClean="0"/>
                        <a:t>| join kind=inner </a:t>
                      </a:r>
                      <a:r>
                        <a:rPr lang="en-US" sz="1400" dirty="0" err="1" smtClean="0"/>
                        <a:t>MaliciousExtensions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    on $</a:t>
                      </a:r>
                      <a:r>
                        <a:rPr lang="en-US" sz="1400" dirty="0" err="1" smtClean="0"/>
                        <a:t>left.ExtensionIdLower</a:t>
                      </a:r>
                      <a:r>
                        <a:rPr lang="en-US" sz="1400" dirty="0" smtClean="0"/>
                        <a:t> == $</a:t>
                      </a:r>
                      <a:r>
                        <a:rPr lang="en-US" sz="1400" dirty="0" err="1" smtClean="0"/>
                        <a:t>right.MaliciousExtensionId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| join kind=</a:t>
                      </a:r>
                      <a:r>
                        <a:rPr lang="en-US" sz="1400" dirty="0" err="1" smtClean="0"/>
                        <a:t>leftouter</a:t>
                      </a:r>
                      <a:r>
                        <a:rPr lang="en-US" sz="1400" dirty="0" smtClean="0"/>
                        <a:t> (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err="1" smtClean="0"/>
                        <a:t>DeviceInfo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| project </a:t>
                      </a:r>
                      <a:r>
                        <a:rPr lang="en-US" sz="1400" dirty="0" err="1" smtClean="0"/>
                        <a:t>DeviceId</a:t>
                      </a:r>
                      <a:r>
                        <a:rPr lang="en-US" sz="1400" dirty="0" smtClean="0"/>
                        <a:t>, </a:t>
                      </a:r>
                      <a:r>
                        <a:rPr lang="en-US" sz="1400" dirty="0" err="1" smtClean="0"/>
                        <a:t>DeviceName</a:t>
                      </a:r>
                      <a:r>
                        <a:rPr lang="en-US" sz="1400" dirty="0" smtClean="0"/>
                        <a:t>) on </a:t>
                      </a:r>
                      <a:r>
                        <a:rPr lang="en-US" sz="1400" dirty="0" err="1" smtClean="0"/>
                        <a:t>DeviceId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| project </a:t>
                      </a:r>
                      <a:r>
                        <a:rPr lang="en-US" sz="1400" dirty="0" err="1" smtClean="0"/>
                        <a:t>DeviceName</a:t>
                      </a:r>
                      <a:r>
                        <a:rPr lang="en-US" sz="1400" dirty="0" smtClean="0"/>
                        <a:t>, </a:t>
                      </a:r>
                      <a:r>
                        <a:rPr lang="en-US" sz="1400" dirty="0" err="1" smtClean="0"/>
                        <a:t>DeviceId</a:t>
                      </a:r>
                      <a:r>
                        <a:rPr lang="en-US" sz="1400" dirty="0" smtClean="0"/>
                        <a:t>, </a:t>
                      </a:r>
                      <a:r>
                        <a:rPr lang="en-US" sz="1400" dirty="0" err="1" smtClean="0"/>
                        <a:t>ExtensionName</a:t>
                      </a:r>
                      <a:r>
                        <a:rPr lang="en-US" sz="1400" dirty="0" smtClean="0"/>
                        <a:t>, </a:t>
                      </a:r>
                      <a:r>
                        <a:rPr lang="en-US" sz="1400" dirty="0" err="1" smtClean="0"/>
                        <a:t>ExtensionVersion</a:t>
                      </a:r>
                      <a:r>
                        <a:rPr lang="en-US" sz="1400" dirty="0" smtClean="0"/>
                        <a:t>, </a:t>
                      </a:r>
                      <a:r>
                        <a:rPr lang="en-US" sz="1400" dirty="0" err="1" smtClean="0"/>
                        <a:t>WatchlistExtensionName</a:t>
                      </a:r>
                      <a:r>
                        <a:rPr lang="en-US" sz="1400" dirty="0" smtClean="0"/>
                        <a:t>, </a:t>
                      </a:r>
                      <a:r>
                        <a:rPr lang="en-US" sz="1400" dirty="0" err="1" smtClean="0"/>
                        <a:t>ExtensionId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| order by </a:t>
                      </a:r>
                      <a:r>
                        <a:rPr lang="en-US" sz="1400" dirty="0" err="1" smtClean="0"/>
                        <a:t>DeviceName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 err="1" smtClean="0"/>
                        <a:t>asc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360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" y="155575"/>
            <a:ext cx="11772900" cy="815975"/>
          </a:xfrm>
        </p:spPr>
        <p:txBody>
          <a:bodyPr/>
          <a:lstStyle/>
          <a:p>
            <a:r>
              <a:rPr lang="en-IN" dirty="0" smtClean="0"/>
              <a:t>Online Scanning TII’s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3067049"/>
            <a:ext cx="11630025" cy="1771651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IN" sz="3600" dirty="0" smtClean="0"/>
              <a:t>They cover Important checks like Permissions, Host/website access, code &amp; obfuscation in code , </a:t>
            </a:r>
          </a:p>
          <a:p>
            <a:pPr>
              <a:buNone/>
            </a:pPr>
            <a:r>
              <a:rPr lang="en-IN" sz="3600" dirty="0" smtClean="0"/>
              <a:t>External/Malicious Domain and share the Risk score along with Verdict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sz="80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IN" sz="8000" dirty="0" smtClean="0">
                <a:latin typeface="+mj-lt"/>
                <a:ea typeface="+mj-ea"/>
                <a:cs typeface="+mj-cs"/>
              </a:rPr>
              <a:t>Open source offline analysis</a:t>
            </a:r>
            <a:endParaRPr lang="en-US" sz="8000" dirty="0" smtClean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8450" y="1005416"/>
          <a:ext cx="10864850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5446184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Threat Intel Platform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Inputs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URL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Extension Security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Extension ID </a:t>
                      </a:r>
                    </a:p>
                    <a:p>
                      <a:r>
                        <a:rPr lang="en-IN" sz="1600" dirty="0" smtClean="0"/>
                        <a:t>Store URL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hlinkClick r:id="rId2"/>
                        </a:rPr>
                        <a:t>https://extensionsecurity.io/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KOI DEX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Extension ID 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hlinkClick r:id="rId3"/>
                        </a:rPr>
                        <a:t>https://dex.koi.security/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Extension checker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Extension ID,</a:t>
                      </a:r>
                      <a:r>
                        <a:rPr lang="en-IN" sz="1600" baseline="0" dirty="0" smtClean="0"/>
                        <a:t> </a:t>
                      </a:r>
                      <a:r>
                        <a:rPr lang="en-IN" sz="1600" dirty="0" smtClean="0"/>
                        <a:t>Store URL</a:t>
                      </a:r>
                      <a:endParaRPr lang="en-US" sz="1600" dirty="0" smtClean="0"/>
                    </a:p>
                    <a:p>
                      <a:r>
                        <a:rPr lang="en-IN" sz="1600" dirty="0" smtClean="0"/>
                        <a:t>Code</a:t>
                      </a:r>
                      <a:r>
                        <a:rPr lang="en-IN" sz="1600" baseline="0" dirty="0" smtClean="0"/>
                        <a:t> analysis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hlinkClick r:id="rId4"/>
                        </a:rPr>
                        <a:t>https://app.extensionchecker.org/</a:t>
                      </a:r>
                      <a:r>
                        <a:rPr lang="en-US" sz="1600" dirty="0" smtClean="0"/>
                        <a:t> 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6550" y="5101166"/>
          <a:ext cx="108648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075"/>
                <a:gridCol w="3421591"/>
                <a:gridCol w="5446184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Inputs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URL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Ext</a:t>
                      </a:r>
                      <a:r>
                        <a:rPr lang="en-US" baseline="0" dirty="0" smtClean="0"/>
                        <a:t> 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.</a:t>
                      </a:r>
                      <a:r>
                        <a:rPr lang="en-IN" dirty="0" err="1" smtClean="0"/>
                        <a:t>crx</a:t>
                      </a:r>
                      <a:r>
                        <a:rPr lang="en-IN" baseline="0" dirty="0" smtClean="0"/>
                        <a:t> - </a:t>
                      </a:r>
                      <a:r>
                        <a:rPr lang="en-IN" dirty="0" smtClean="0"/>
                        <a:t>.</a:t>
                      </a:r>
                      <a:r>
                        <a:rPr lang="en-IN" dirty="0" err="1" smtClean="0"/>
                        <a:t>xpi</a:t>
                      </a:r>
                      <a:r>
                        <a:rPr lang="en-IN" dirty="0" smtClean="0"/>
                        <a:t> - .zip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5"/>
                        </a:rPr>
                        <a:t>https://github.com/Tuhinshubhra/ExtAnalysis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crx</a:t>
                      </a:r>
                      <a:r>
                        <a:rPr lang="en-IN" dirty="0" smtClean="0"/>
                        <a:t>-analyzer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Extension ID and</a:t>
                      </a:r>
                      <a:r>
                        <a:rPr lang="en-IN" baseline="0" dirty="0" smtClean="0"/>
                        <a:t> store </a:t>
                      </a:r>
                      <a:r>
                        <a:rPr lang="en-IN" dirty="0" smtClean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6"/>
                        </a:rPr>
                        <a:t>https://github.com/rileydakota/crx-analyzer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136525"/>
            <a:ext cx="10515600" cy="739775"/>
          </a:xfrm>
        </p:spPr>
        <p:txBody>
          <a:bodyPr/>
          <a:lstStyle/>
          <a:p>
            <a:r>
              <a:rPr lang="en-US" dirty="0" smtClean="0"/>
              <a:t>Mitigations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" y="1104900"/>
            <a:ext cx="11153775" cy="5572125"/>
          </a:xfrm>
        </p:spPr>
        <p:txBody>
          <a:bodyPr>
            <a:normAutofit lnSpcReduction="10000"/>
          </a:bodyPr>
          <a:lstStyle/>
          <a:p>
            <a:r>
              <a:rPr lang="en-US" sz="2000" b="1" dirty="0" smtClean="0"/>
              <a:t>Download Safely: </a:t>
            </a:r>
            <a:r>
              <a:rPr lang="en-US" sz="2000" dirty="0" smtClean="0"/>
              <a:t>Use only official browser extension stores.</a:t>
            </a:r>
          </a:p>
          <a:p>
            <a:r>
              <a:rPr lang="en-US" sz="2000" b="1" dirty="0" smtClean="0"/>
              <a:t>Keep extensions updated: </a:t>
            </a:r>
            <a:r>
              <a:rPr lang="en-US" sz="2000" dirty="0" smtClean="0"/>
              <a:t>Avoid extensions that are outdated or no longer maintained.</a:t>
            </a:r>
          </a:p>
          <a:p>
            <a:r>
              <a:rPr lang="en-US" sz="2000" b="1" dirty="0" smtClean="0"/>
              <a:t>Review Privacy: </a:t>
            </a:r>
            <a:r>
              <a:rPr lang="en-US" sz="2000" dirty="0" smtClean="0"/>
              <a:t>Check the privacy policy and developer website before installing.</a:t>
            </a:r>
          </a:p>
          <a:p>
            <a:r>
              <a:rPr lang="en-US" sz="2000" b="1" dirty="0" smtClean="0"/>
              <a:t>Research First: </a:t>
            </a:r>
            <a:r>
              <a:rPr lang="en-US" sz="2000" dirty="0" smtClean="0"/>
              <a:t>Look at ratings, reviews, downloads, and developer reputation.</a:t>
            </a:r>
          </a:p>
          <a:p>
            <a:r>
              <a:rPr lang="en-US" sz="2000" b="1" dirty="0" smtClean="0"/>
              <a:t>Check Permissions: </a:t>
            </a:r>
            <a:r>
              <a:rPr lang="en-US" sz="2000" dirty="0" smtClean="0"/>
              <a:t>Install only extensions requesting permissions relevant to their purpose.</a:t>
            </a:r>
          </a:p>
          <a:p>
            <a:r>
              <a:rPr lang="en-US" sz="2000" b="1" dirty="0" smtClean="0"/>
              <a:t>Use Security Tools: </a:t>
            </a:r>
            <a:r>
              <a:rPr lang="en-US" sz="2000" dirty="0" smtClean="0"/>
              <a:t>Keep antivirus/anti-malware protection enabled.</a:t>
            </a:r>
          </a:p>
          <a:p>
            <a:r>
              <a:rPr lang="en-US" sz="2000" b="1" dirty="0" smtClean="0"/>
              <a:t>Stay Alert: </a:t>
            </a:r>
            <a:r>
              <a:rPr lang="en-US" sz="2000" dirty="0" smtClean="0"/>
              <a:t>Avoid extensions offering suspicious or “too good to be true” features.</a:t>
            </a:r>
          </a:p>
          <a:p>
            <a:r>
              <a:rPr lang="en-US" sz="2000" b="1" dirty="0" smtClean="0"/>
              <a:t>Regularly Clean Up: </a:t>
            </a:r>
            <a:r>
              <a:rPr lang="en-US" sz="2000" dirty="0" smtClean="0"/>
              <a:t>Regularly remove unused/suspicious extensions and monitor installed extensions.</a:t>
            </a:r>
          </a:p>
          <a:p>
            <a:r>
              <a:rPr lang="en-US" sz="2000" b="1" dirty="0" smtClean="0"/>
              <a:t>Limit the number of installed extensions: </a:t>
            </a:r>
            <a:r>
              <a:rPr lang="en-US" sz="2000" dirty="0" smtClean="0"/>
              <a:t>To reduce the attack surface and limit potential vulnerabilities, users should install only essential browser extensions.</a:t>
            </a:r>
          </a:p>
          <a:p>
            <a:endParaRPr lang="en-IN" sz="2000" dirty="0" smtClean="0"/>
          </a:p>
          <a:p>
            <a:endParaRPr lang="en-IN" sz="2000" b="1" dirty="0" smtClean="0"/>
          </a:p>
          <a:p>
            <a:pPr algn="ctr">
              <a:buNone/>
            </a:pPr>
            <a:r>
              <a:rPr lang="en-US" sz="2000" b="1" dirty="0" smtClean="0"/>
              <a:t>“treat every browser extension like third-party code with production access ,</a:t>
            </a:r>
            <a:br>
              <a:rPr lang="en-US" sz="2000" b="1" dirty="0" smtClean="0"/>
            </a:br>
            <a:r>
              <a:rPr lang="en-US" sz="2000" b="1" dirty="0" smtClean="0"/>
              <a:t> because that’s exactly what it is”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C82ECD-2C51-7603-511A-0E0428B0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519D39-3744-D7A8-177D-0565EA37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https://sqrx.com/polymorphic-extensions</a:t>
            </a:r>
          </a:p>
          <a:p>
            <a:r>
              <a:rPr lang="en-US" sz="2000" dirty="0" smtClean="0"/>
              <a:t>https://www.aikido.dev/blog/browser-extension-security</a:t>
            </a:r>
          </a:p>
          <a:p>
            <a:r>
              <a:rPr lang="en-US" sz="2000" dirty="0" smtClean="0"/>
              <a:t>https://github.blog/security/vulnerability-research/attacking-browser-extensions/</a:t>
            </a:r>
          </a:p>
          <a:p>
            <a:r>
              <a:rPr lang="en-US" sz="2000" dirty="0" smtClean="0"/>
              <a:t>https://spin.ai/blog/beyond-add-ons-elevating-browser-governance-against-malicious-and-risky-extensions/</a:t>
            </a:r>
          </a:p>
          <a:p>
            <a:r>
              <a:rPr lang="en-US" sz="2000" dirty="0" smtClean="0"/>
              <a:t>https://attack.mitre.org/techniques/T1176/</a:t>
            </a:r>
          </a:p>
          <a:p>
            <a:r>
              <a:rPr lang="en-US" sz="2000" dirty="0" smtClean="0"/>
              <a:t>https://developer.mozilla.org/en-US/docs/Mozilla/Add-ons/WebExtensions/Anatomy_of_a_WebExtension</a:t>
            </a:r>
          </a:p>
          <a:p>
            <a:r>
              <a:rPr lang="en-US" sz="2000" dirty="0" smtClean="0"/>
              <a:t>https://seraphicsecurity.com/resources/blog/malicious-browser-extensions-are-on-the-rise/</a:t>
            </a:r>
          </a:p>
          <a:p>
            <a:r>
              <a:rPr lang="en-US" sz="2000" dirty="0" smtClean="0">
                <a:hlinkClick r:id="rId2"/>
              </a:rPr>
              <a:t>https://marektoth.com/blog/dom-based-extension-clickjacking/#browser-extension-clickjacking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419056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3DEBF04-6FE8-C39A-FD59-8D3D6F6FFDE1}"/>
              </a:ext>
            </a:extLst>
          </p:cNvPr>
          <p:cNvSpPr txBox="1"/>
          <p:nvPr/>
        </p:nvSpPr>
        <p:spPr>
          <a:xfrm>
            <a:off x="1324724" y="2633469"/>
            <a:ext cx="9301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600" dirty="0"/>
              <a:t> 		…Any questions or 							Feedback….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3662099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45D37F4E-DDB4-456B-97E0-9937730A03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35FFEE-75FE-F8A8-DF5F-93AC984B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343" y="238539"/>
            <a:ext cx="10099670" cy="1078197"/>
          </a:xfrm>
        </p:spPr>
        <p:txBody>
          <a:bodyPr anchor="b">
            <a:normAutofit/>
          </a:bodyPr>
          <a:lstStyle/>
          <a:p>
            <a:r>
              <a:rPr lang="en-US" sz="5400"/>
              <a:t>Whoami$</a:t>
            </a:r>
            <a:endParaRPr lang="en-US" sz="5400" dirty="0"/>
          </a:p>
        </p:txBody>
      </p:sp>
      <p:sp>
        <p:nvSpPr>
          <p:cNvPr id="12" name="sketchy line">
            <a:extLst>
              <a:ext uri="{FF2B5EF4-FFF2-40B4-BE49-F238E27FC236}">
                <a16:creationId xmlns="" xmlns:a16="http://schemas.microsoft.com/office/drawing/2014/main" id="{B2DD41CD-8F47-4F56-AD12-4E2FF76969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1C74A2F-C660-FD34-8F9A-A77666B9D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343" y="1911493"/>
            <a:ext cx="5794702" cy="42789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Sunil Kumar BV </a:t>
            </a:r>
          </a:p>
          <a:p>
            <a:pPr marL="0" indent="0">
              <a:buNone/>
            </a:pPr>
            <a:r>
              <a:rPr lang="en-US" sz="2200" dirty="0"/>
              <a:t>Sr Security Engineer</a:t>
            </a: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="" xmlns:a16="http://schemas.microsoft.com/office/drawing/2014/main" id="{506ABFC9-BB1D-C6AD-5BC9-FB1B1A93C5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10" b="-3"/>
          <a:stretch>
            <a:fillRect/>
          </a:stretch>
        </p:blipFill>
        <p:spPr>
          <a:xfrm>
            <a:off x="6184315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0902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6917</TotalTime>
  <Words>1797</Words>
  <Application>Microsoft Office PowerPoint</Application>
  <PresentationFormat>Custom</PresentationFormat>
  <Paragraphs>237</Paragraphs>
  <Slides>22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Extensions Land</vt:lpstr>
      <vt:lpstr>Next 40 Mins !</vt:lpstr>
      <vt:lpstr>What are extensions</vt:lpstr>
      <vt:lpstr>Extension Structure</vt:lpstr>
      <vt:lpstr>Slide 5</vt:lpstr>
      <vt:lpstr>Why adversaries target browser extensions</vt:lpstr>
      <vt:lpstr>Types of harmful web extensions</vt:lpstr>
      <vt:lpstr>Slide 8</vt:lpstr>
      <vt:lpstr>Slide 9</vt:lpstr>
      <vt:lpstr>Manifest V2: Why Extensions Had a Larger Security Risk</vt:lpstr>
      <vt:lpstr>Extension Permissions</vt:lpstr>
      <vt:lpstr>Slide 12</vt:lpstr>
      <vt:lpstr>Slide 13</vt:lpstr>
      <vt:lpstr>Manifest V3: How Security Is Improved</vt:lpstr>
      <vt:lpstr>Demo MV3 - ClickJacking</vt:lpstr>
      <vt:lpstr>Why Malicious Extensions Are Difficult to Detect</vt:lpstr>
      <vt:lpstr>Suspicious Extension Hunting</vt:lpstr>
      <vt:lpstr>Online Scanning TII’s</vt:lpstr>
      <vt:lpstr>Mitigations</vt:lpstr>
      <vt:lpstr>Reference</vt:lpstr>
      <vt:lpstr>Slide 21</vt:lpstr>
      <vt:lpstr>Whoami$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Extension Land</dc:title>
  <dc:creator>B V, Sunil | RIEPL</dc:creator>
  <cp:lastModifiedBy>sunil kumar</cp:lastModifiedBy>
  <cp:revision>172</cp:revision>
  <dcterms:created xsi:type="dcterms:W3CDTF">2026-08-07T05:39:28Z</dcterms:created>
  <dcterms:modified xsi:type="dcterms:W3CDTF">2026-08-22T04:15:54Z</dcterms:modified>
</cp:coreProperties>
</file>